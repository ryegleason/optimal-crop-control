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1059" r:id="rId3"/>
    <p:sldId id="1060" r:id="rId4"/>
    <p:sldId id="1061" r:id="rId5"/>
    <p:sldId id="1062" r:id="rId6"/>
    <p:sldId id="1063" r:id="rId7"/>
    <p:sldId id="1065" r:id="rId8"/>
    <p:sldId id="257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7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99C3-CCE0-43CE-9DE0-96A119748F5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75AAA-AF8A-4228-8618-E66BECCFD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Why nitrogen and why this model?</a:t>
            </a:r>
          </a:p>
          <a:p>
            <a:r>
              <a:rPr lang="en-US" b="0" dirty="0"/>
              <a:t>Nitrogen gets slightly more attention. This model is well-known and widely used. Similar models for C-P cycling are not quite as well known. Multiple applications of N are more common than P because N is more mobile – this will matter for the questions asked at the end of this study. If ever want to test out result on more detailed model, more is available for N than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35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636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773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439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Let plant demand be external, but potentially varying throughout growing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369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C13B0-6BFA-4E61-BDF9-9EC8AD0F57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1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E8B1-8E88-3B9F-967C-D26654BD6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67802-FA70-EFA6-1EAF-89CD34255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FE16-55A6-6AD2-6BE0-450E7909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9D02-1840-B81E-94C7-895896B3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5A67-A87A-E68E-64B1-5C8BC0C1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8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DAEA-B8C1-BF37-8181-8B72D8B1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D7AA2-E6D1-EDE0-E08C-1AD60DEF0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055A8-6CE8-BA63-3226-13C591068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57625-1C51-2546-E4E4-2A160C3A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68EC-0032-7323-5FB0-D04003A5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6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9B79-63A5-EFCE-122A-B869A44B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94D0F-2EE3-DCA4-7AC2-896C5928E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9917C-81B7-F9BA-F48D-3611552A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E7FD1-7A78-BFD3-73F7-251B72F8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01FE-5170-DD62-D457-BAE1B5C8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5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681E-019B-7883-C2C9-D4A15C3A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26B3E-6A54-4D5B-0FC0-D6D9BF46F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B7C27-515A-0098-F138-8F790C31C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D05EE-9287-1D8F-F855-49DE3938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A213-A049-5E0A-3AEA-5019807A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AC57C-63AF-D582-5C44-662D934E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3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5578-244C-B3EE-9EC9-35713633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4E35C-F268-F66E-635C-63DD925B7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0F494-7A29-8AE0-EED4-41BCCBD82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A6FC6-F62B-86BE-D79A-C4AA7C5B8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2CCB1-DB56-A41E-2CBF-473115B3A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97121-6F2D-EC9C-1FB1-BD08A391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D66C5-6E84-B597-4715-70B07819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48F475-E0AE-0C19-AA6B-6D487F27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8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871E-C1E4-D5A4-86EF-8BB8F8BB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6E5BA-1116-CBCF-E3AF-72FB7818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EB0B-D991-D0BE-DBBF-0F4F8835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59B6A-55C6-F649-964C-6B69233F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5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BC91D-C8C4-DF6A-1DA7-3FBDD8EE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012CE-93F1-B614-ADF4-03C68C9E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BA596-85A7-FD4D-13E1-CAAD418B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2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338C-ABF3-6899-E100-D171A965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6FB2-9980-CEC3-BA25-545D9C08C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8249C-0A3B-D71E-A372-86F3497CE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F406E-7853-E969-258A-1766D570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7D0A5-616F-53AC-007D-C1BD42E4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F61C5-D689-6FB3-6437-E00DFFE1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3C9A-AA36-3E44-A62B-2038CAAA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0D457-A7FE-F682-0776-BDBFF5E74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06178-6850-6F1B-99B4-D0BE4E9DB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B9517-0168-46F7-4D26-3C272F61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57E85-56DF-245B-9B12-AC04E10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52320-AA40-7077-3E1B-50E62F72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9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E7950-A4D0-A8A7-17BC-6F754202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0825D-1417-7DC5-5560-462FA7EF6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EB591-B50E-2D16-508C-EB7DEBEC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EE758-70F4-6198-5A92-40C39197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A5D8-AC43-DF8F-C875-91DBAEA8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D22C7-BE4E-1C73-A0F7-746BA853B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28A91-6A14-1D41-7608-6B90B998B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FEC63-63DF-677D-AD65-949A6E54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39391-AD0A-4729-7D3C-C6B85320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AA515-80D4-8C94-E940-F0ECD937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27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62C4-AA8D-42B4-BFEE-238FA30A9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FF3E3-A9D3-412B-A5DA-CAFC4BB78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597D8-3F4A-4F9C-AE09-FE5A542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4ADC-DEAC-4B48-99C3-7E725ADC7463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79011-CCD6-4D0E-88C4-E78E03E2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6E26-57C3-4B5D-B1EB-BF5B53D7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77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778C-20EC-4EC6-93FD-A1EFBCF5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0B0B-67F9-469C-A281-5CDF47B4B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F48F1-57B0-4EB4-BE0F-E8991226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8670-D070-4E6A-A240-4FEE6087CD5C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E916A-45E7-48A1-BA26-B3FD263D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9794-F2FD-4D99-BE87-FC95F5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9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B0CE-14FC-45EF-B280-4930485C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BC161-AE67-4A83-8CC8-7A3EE9E60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FEB2-77F8-4245-81C9-D4518D14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F1F37-CA4A-4BE0-B899-FF2FCCC345EE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A5F6B-86DA-42EB-B14F-F7459DA4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B4023-C8AF-4563-B253-E3EB7C07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19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15DA-5285-4B73-B575-18B3F700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D5EDF-777F-49B1-829A-6A0C7399A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2E29-173F-4100-B2E6-EC8130CC2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AAE4F-2537-4E3D-80D3-DA975AA7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4431-616F-4F40-B302-B9D1F15D00A7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9859D-FA0F-48B8-BF0B-D0A0C418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3E02A-B3A5-403B-94E5-408FBC72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37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9A3C-14CA-4FFD-8B19-9D60E179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4A3CF-09AB-454B-A59E-ED665BBCD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E6890-8CC3-417F-9C08-1F0294BFD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21BB5-DFEF-4970-A9AB-2C64A70B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65FB-8576-49B6-846B-EF490DB7F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34F9F-A940-4FCB-911A-C8D7717B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E305-6E39-4519-B1C1-0A58435E80F7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F564E-302D-4485-BCD8-27D7CDC8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6BC12-7B8F-4468-A923-CF5BFDE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03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EDCC-EA76-4900-898D-1EAC33AF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5236F-6C7D-490D-8C3B-C98676F4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10F0-C413-46E8-B6BA-FCB5A1E6F565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1F849-65A2-43EC-B8B5-D6BACA0A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65587-113A-4079-A49E-FD1A058E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26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11A06-57FA-4839-8AA7-69E15908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364D-B375-43A2-84CE-5D1F4CEC777F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879E5-D38B-426D-9DB7-E445C07A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82071-1C9A-4CD5-9E30-94A51023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69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9B7D9-40FF-4DAC-AE0A-D6BB28893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342A-1DCA-42D0-8D59-0682CB1A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3809E-7333-407F-AB3D-D36FE9DBA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C4EEB-12A7-4AAA-9F7D-20B9BE67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0B8-C601-4A42-B802-3C8C3A30C550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BEB21-9F7F-4B2D-A279-FFCAE9B0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9CE54-6873-4A63-BC56-08EDC999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8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79C1-A01F-4E87-9861-B26A5F01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6E1C1-ED84-4A4F-B637-FA557510D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5B7A9-9DE7-453C-99DA-DD68BFDF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76C55-D6A6-42E1-BA55-3142A342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5E7A2-8D88-4AD5-9536-0E5A5C7CE9A8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A495C-8556-4671-A6E7-0BCA6914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A1854-F6EF-4CFA-A36C-A4D3FBA0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16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1CBC-FDE2-487E-BA59-4DE04640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02710-67FF-4A97-A7B3-5D9361686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311E-2BBE-4669-8D3F-0747BCDC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DC7A-EB71-4D9D-90F7-51C264AC7100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9A83-3DA1-4CA0-A323-A1DAF8B8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7BE9-A7BF-4F95-AD70-351EE751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41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36B6D-79CB-4C8B-8C24-1994D1E4F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1FC7D-F47B-4BE2-ACBA-76B20C083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D755-1C09-4F94-B2B9-3C1DC4EF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2F8C-7F6F-4EB8-A8DD-E94C067FBAF1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D76DE-E304-4C63-A292-E7D1078F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BE68A-7DEA-496E-B19D-6A47B33A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8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6F04D-2441-DA93-C411-67007790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66131-E812-84C9-87E2-D59849EF7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AFB19-1C94-706A-A058-D4DC94987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80663-3E70-4E53-A644-AA57D345000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10F2B-BDEB-F5AA-E559-2A6B6D6A7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B30C1-AC35-8243-B523-975DBB2AF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D849C-62D4-4323-A275-2A05787B1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8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CCB91-5612-44CD-BDAF-E761FA66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F3FB8-7898-4FAB-8CF7-FAEB1C7C6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C224-5AAD-409F-BCAD-8BD9A0B16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2A52-3F6A-4AB0-9FB1-0D1E1FC3876E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6E275-872C-477D-BB81-13AB74EE3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DA854-08BA-4596-A58E-F8727C65D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ABDF3-7242-4FBB-B662-094899DC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6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7983-DC28-4045-8EB5-4B71DEA4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0150"/>
            <a:ext cx="12191999" cy="1615214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0"/>
              </a:rPr>
              <a:t>Candidate model for nutrient reachability analysis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8" y="2286000"/>
            <a:ext cx="3599235" cy="2966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9 states: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S – soil moisture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litter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humus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biomass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litter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humus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biomass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+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ammonium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nitrate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321CAC-798B-1448-43C0-7182D9DC7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253" y="1665570"/>
            <a:ext cx="6024396" cy="488328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DD73523-11E1-960C-C4D4-DFF131D70835}"/>
              </a:ext>
            </a:extLst>
          </p:cNvPr>
          <p:cNvSpPr txBox="1">
            <a:spLocks/>
          </p:cNvSpPr>
          <p:nvPr/>
        </p:nvSpPr>
        <p:spPr>
          <a:xfrm>
            <a:off x="803342" y="5465907"/>
            <a:ext cx="3218231" cy="5870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Available to plants but susceptible to losses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16202B-310C-A584-999E-E06F72D7854A}"/>
              </a:ext>
            </a:extLst>
          </p:cNvPr>
          <p:cNvCxnSpPr>
            <a:cxnSpLocks/>
          </p:cNvCxnSpPr>
          <p:nvPr/>
        </p:nvCxnSpPr>
        <p:spPr>
          <a:xfrm flipH="1" flipV="1">
            <a:off x="982494" y="5115710"/>
            <a:ext cx="169284" cy="3030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B39900-16C2-AB76-C44B-0A21B897670A}"/>
              </a:ext>
            </a:extLst>
          </p:cNvPr>
          <p:cNvCxnSpPr>
            <a:cxnSpLocks/>
          </p:cNvCxnSpPr>
          <p:nvPr/>
        </p:nvCxnSpPr>
        <p:spPr>
          <a:xfrm flipH="1" flipV="1">
            <a:off x="1060315" y="4824919"/>
            <a:ext cx="91463" cy="6015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06A4B056-DC99-6F54-DC7C-6ADEB99F8E29}"/>
              </a:ext>
            </a:extLst>
          </p:cNvPr>
          <p:cNvSpPr txBox="1">
            <a:spLocks/>
          </p:cNvSpPr>
          <p:nvPr/>
        </p:nvSpPr>
        <p:spPr>
          <a:xfrm>
            <a:off x="3176081" y="2344366"/>
            <a:ext cx="1501304" cy="359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stochastic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740618-56E0-8599-3567-BCCC43F8991D}"/>
              </a:ext>
            </a:extLst>
          </p:cNvPr>
          <p:cNvCxnSpPr>
            <a:cxnSpLocks/>
          </p:cNvCxnSpPr>
          <p:nvPr/>
        </p:nvCxnSpPr>
        <p:spPr>
          <a:xfrm flipH="1">
            <a:off x="2962307" y="2563240"/>
            <a:ext cx="213774" cy="1339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44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7983-DC28-4045-8EB5-4B71DEA4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0150"/>
            <a:ext cx="12191999" cy="1615214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0"/>
              </a:rPr>
              <a:t>Candidate model for nutrient reachability analysis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8" y="2286000"/>
            <a:ext cx="3599235" cy="2966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9 states: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S – soil moisture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litter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humus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carbon, biomass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litter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humus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biomass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+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ammonium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N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 – nitrogen, nitrate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D73523-11E1-960C-C4D4-DFF131D70835}"/>
              </a:ext>
            </a:extLst>
          </p:cNvPr>
          <p:cNvSpPr txBox="1">
            <a:spLocks/>
          </p:cNvSpPr>
          <p:nvPr/>
        </p:nvSpPr>
        <p:spPr>
          <a:xfrm>
            <a:off x="803342" y="5465907"/>
            <a:ext cx="3218231" cy="5870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Available to plants but susceptible to losses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16202B-310C-A584-999E-E06F72D7854A}"/>
              </a:ext>
            </a:extLst>
          </p:cNvPr>
          <p:cNvCxnSpPr>
            <a:cxnSpLocks/>
          </p:cNvCxnSpPr>
          <p:nvPr/>
        </p:nvCxnSpPr>
        <p:spPr>
          <a:xfrm flipH="1" flipV="1">
            <a:off x="982494" y="5115710"/>
            <a:ext cx="169284" cy="3030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B39900-16C2-AB76-C44B-0A21B897670A}"/>
              </a:ext>
            </a:extLst>
          </p:cNvPr>
          <p:cNvCxnSpPr>
            <a:cxnSpLocks/>
          </p:cNvCxnSpPr>
          <p:nvPr/>
        </p:nvCxnSpPr>
        <p:spPr>
          <a:xfrm flipH="1" flipV="1">
            <a:off x="1060315" y="4824919"/>
            <a:ext cx="91463" cy="6015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06A4B056-DC99-6F54-DC7C-6ADEB99F8E29}"/>
              </a:ext>
            </a:extLst>
          </p:cNvPr>
          <p:cNvSpPr txBox="1">
            <a:spLocks/>
          </p:cNvSpPr>
          <p:nvPr/>
        </p:nvSpPr>
        <p:spPr>
          <a:xfrm>
            <a:off x="3176081" y="2344366"/>
            <a:ext cx="1501304" cy="359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stochastic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740618-56E0-8599-3567-BCCC43F8991D}"/>
              </a:ext>
            </a:extLst>
          </p:cNvPr>
          <p:cNvCxnSpPr>
            <a:cxnSpLocks/>
          </p:cNvCxnSpPr>
          <p:nvPr/>
        </p:nvCxnSpPr>
        <p:spPr>
          <a:xfrm flipH="1">
            <a:off x="2962307" y="2563240"/>
            <a:ext cx="213774" cy="1339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351346D-B18A-F7D6-8ACE-BE2F348AD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33" y="1630045"/>
            <a:ext cx="3970811" cy="483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2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7983-DC28-4045-8EB5-4B71DEA4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0150"/>
            <a:ext cx="12191999" cy="1615214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0"/>
              </a:rPr>
              <a:t>Candidate model for nutrient reachability analysis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8" y="2286001"/>
            <a:ext cx="4464998" cy="485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Soil moisture dynamics: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1943B6-C651-D4DC-4FC8-35674FE6307B}"/>
              </a:ext>
            </a:extLst>
          </p:cNvPr>
          <p:cNvSpPr txBox="1">
            <a:spLocks/>
          </p:cNvSpPr>
          <p:nvPr/>
        </p:nvSpPr>
        <p:spPr>
          <a:xfrm>
            <a:off x="749028" y="2782734"/>
            <a:ext cx="4464998" cy="9235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RAINFALL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Occurrence as Poisson process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Depth as exponential distribution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19B60-01BE-2A84-3D30-661CCC88A193}"/>
              </a:ext>
            </a:extLst>
          </p:cNvPr>
          <p:cNvSpPr txBox="1">
            <a:spLocks/>
          </p:cNvSpPr>
          <p:nvPr/>
        </p:nvSpPr>
        <p:spPr>
          <a:xfrm>
            <a:off x="5998721" y="2782735"/>
            <a:ext cx="4464998" cy="1302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LOSSES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Evaporation, transpiration, and leakage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D1B9C-1C1B-7D60-AD28-A04DA00B6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6" y="3954639"/>
            <a:ext cx="4556902" cy="2285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B29F3-0BA4-9825-CE8A-A21CECDE1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97" y="3924631"/>
            <a:ext cx="3480046" cy="23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3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7983-DC28-4045-8EB5-4B71DEA4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0150"/>
            <a:ext cx="12191999" cy="1615214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0"/>
              </a:rPr>
              <a:t>Candidate model for nutrient reachability analysis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7" y="2286001"/>
            <a:ext cx="8414427" cy="485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Carbon and nitrogen dynamics are mediated by soil moisture (and temperature, if we want that complexity):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967B06-3080-7A1F-5BEB-3AECA577B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257" y="2984107"/>
            <a:ext cx="4371266" cy="3188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03A53A-3B99-88F2-2381-BF5A4C4D5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2892704"/>
            <a:ext cx="5012115" cy="32799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B9D701-9F2F-E046-EE6A-C7572922E0F9}"/>
              </a:ext>
            </a:extLst>
          </p:cNvPr>
          <p:cNvSpPr txBox="1">
            <a:spLocks/>
          </p:cNvSpPr>
          <p:nvPr/>
        </p:nvSpPr>
        <p:spPr>
          <a:xfrm>
            <a:off x="2871495" y="6119728"/>
            <a:ext cx="1126790" cy="3339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Reality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7BCAA2-077C-685D-FE65-A5C998B84FEB}"/>
              </a:ext>
            </a:extLst>
          </p:cNvPr>
          <p:cNvSpPr txBox="1">
            <a:spLocks/>
          </p:cNvSpPr>
          <p:nvPr/>
        </p:nvSpPr>
        <p:spPr>
          <a:xfrm>
            <a:off x="8193717" y="6119728"/>
            <a:ext cx="1126790" cy="3339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67141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ABC547-D663-616A-88F3-658721CF8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747" y="2671932"/>
            <a:ext cx="3333750" cy="227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5A7983-DC28-4045-8EB5-4B71DEA4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0150"/>
            <a:ext cx="12191999" cy="1615214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2" charset="0"/>
              </a:rPr>
              <a:t>Candidate model for nutrient reachability analysis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7" y="2286000"/>
            <a:ext cx="8414427" cy="632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Management goals would be to minimize N leaching and avoid N deficit (uptake less than plant demand):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F5C94C-FB0D-2B22-010B-EE026BCB1EF8}"/>
                  </a:ext>
                </a:extLst>
              </p:cNvPr>
              <p:cNvSpPr txBox="1"/>
              <p:nvPr/>
            </p:nvSpPr>
            <p:spPr>
              <a:xfrm>
                <a:off x="841442" y="3455867"/>
                <a:ext cx="4608698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𝐿𝑒𝑎𝑐h𝑖𝑛𝑔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𝑤𝑎𝑡𝑒𝑟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𝑙𝑒𝑎𝑘𝑎𝑔𝑒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𝑣𝑜𝑙𝑢𝑚𝑒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𝑤𝑎𝑡𝑒𝑟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𝑝𝑒𝑟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𝑢𝑛𝑖𝑡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𝑎𝑟𝑒𝑎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F5C94C-FB0D-2B22-010B-EE026BCB1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42" y="3455867"/>
                <a:ext cx="4608698" cy="572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71402E-2E6B-9581-116D-B91A3D378ADB}"/>
                  </a:ext>
                </a:extLst>
              </p:cNvPr>
              <p:cNvSpPr txBox="1"/>
              <p:nvPr/>
            </p:nvSpPr>
            <p:spPr>
              <a:xfrm>
                <a:off x="851168" y="4873387"/>
                <a:ext cx="4328173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𝑈𝑝𝑡𝑎𝑘𝑒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𝑎𝑐𝑡𝑖𝑣𝑒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0386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03864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03864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03864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𝐷𝑒𝑚𝑎𝑛𝑑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03864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𝑈𝑝𝑡𝑎𝑘𝑒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𝑝𝑎𝑠𝑠𝑖𝑣𝑒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203864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03864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71402E-2E6B-9581-116D-B91A3D378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" y="4873387"/>
                <a:ext cx="4328173" cy="884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CF2F8B-1DFF-57D0-14DD-CA0F3AE907A0}"/>
                  </a:ext>
                </a:extLst>
              </p:cNvPr>
              <p:cNvSpPr txBox="1"/>
              <p:nvPr/>
            </p:nvSpPr>
            <p:spPr>
              <a:xfrm>
                <a:off x="5595025" y="4873387"/>
                <a:ext cx="3777894" cy="901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03864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𝐷𝑒𝑚𝑎𝑛𝑑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𝑈𝑝𝑡𝑎𝑘𝑒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𝑝𝑎𝑠𝑠𝑖𝑣𝑒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&lt;0</m:t>
                            </m:r>
                          </m:e>
                        </m:mr>
                        <m:m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&lt;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𝐷𝑒𝑚𝑎𝑛𝑑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𝑈𝑝𝑡𝑎𝑘𝑒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𝑝𝑎𝑠𝑠𝑖𝑣𝑒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&lt;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𝐷𝑒𝑚𝑎𝑛𝑑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0386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𝑈𝑝𝑡𝑎𝑘𝑒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203864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𝑝𝑎𝑠𝑠𝑖𝑣𝑒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203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CF2F8B-1DFF-57D0-14DD-CA0F3AE90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25" y="4873387"/>
                <a:ext cx="3777894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E61B2167-7C38-5AD6-9AAE-FF45A2DC1094}"/>
              </a:ext>
            </a:extLst>
          </p:cNvPr>
          <p:cNvSpPr txBox="1">
            <a:spLocks/>
          </p:cNvSpPr>
          <p:nvPr/>
        </p:nvSpPr>
        <p:spPr>
          <a:xfrm>
            <a:off x="5767473" y="3579781"/>
            <a:ext cx="1501304" cy="359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minimize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E072D2-41AD-824C-19D4-9141D7427816}"/>
              </a:ext>
            </a:extLst>
          </p:cNvPr>
          <p:cNvCxnSpPr>
            <a:cxnSpLocks/>
          </p:cNvCxnSpPr>
          <p:nvPr/>
        </p:nvCxnSpPr>
        <p:spPr>
          <a:xfrm flipH="1">
            <a:off x="9219868" y="5610673"/>
            <a:ext cx="30610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FF6B9D22-4722-FD29-E40E-8FB54A97CABF}"/>
              </a:ext>
            </a:extLst>
          </p:cNvPr>
          <p:cNvSpPr txBox="1">
            <a:spLocks/>
          </p:cNvSpPr>
          <p:nvPr/>
        </p:nvSpPr>
        <p:spPr>
          <a:xfrm>
            <a:off x="9525970" y="5415249"/>
            <a:ext cx="1501304" cy="359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avoid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732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B8BBE4-0CEA-4D5D-A24C-E26FBF3A6620}"/>
              </a:ext>
            </a:extLst>
          </p:cNvPr>
          <p:cNvSpPr txBox="1">
            <a:spLocks/>
          </p:cNvSpPr>
          <p:nvPr/>
        </p:nvSpPr>
        <p:spPr>
          <a:xfrm>
            <a:off x="1" y="6488349"/>
            <a:ext cx="1157590" cy="369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01/25/2023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28215-43AC-3B86-C243-938B0B881D04}"/>
              </a:ext>
            </a:extLst>
          </p:cNvPr>
          <p:cNvSpPr txBox="1">
            <a:spLocks/>
          </p:cNvSpPr>
          <p:nvPr/>
        </p:nvSpPr>
        <p:spPr>
          <a:xfrm>
            <a:off x="10110658" y="29831"/>
            <a:ext cx="2448304" cy="301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Thin" panose="00000300000000000000" pitchFamily="2" charset="0"/>
                <a:ea typeface="+mn-ea"/>
                <a:cs typeface="+mn-cs"/>
              </a:rPr>
              <a:t>Source: climate.gov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212DD8-DD40-6AD7-4EAD-C45CDA8647C4}"/>
              </a:ext>
            </a:extLst>
          </p:cNvPr>
          <p:cNvSpPr txBox="1">
            <a:spLocks/>
          </p:cNvSpPr>
          <p:nvPr/>
        </p:nvSpPr>
        <p:spPr>
          <a:xfrm>
            <a:off x="749028" y="1511188"/>
            <a:ext cx="3326860" cy="561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ontserrat Light" panose="00000400000000000000" pitchFamily="2" charset="0"/>
                <a:ea typeface="+mj-ea"/>
                <a:cs typeface="+mj-cs"/>
              </a:rPr>
              <a:t>Porporato et al.,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9CF63-BCEC-7D40-3850-F73407962451}"/>
              </a:ext>
            </a:extLst>
          </p:cNvPr>
          <p:cNvSpPr txBox="1">
            <a:spLocks/>
          </p:cNvSpPr>
          <p:nvPr/>
        </p:nvSpPr>
        <p:spPr>
          <a:xfrm>
            <a:off x="749027" y="2286000"/>
            <a:ext cx="8414427" cy="632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Model outputs (example):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8B4FC-7554-7394-40E8-45DDAF8E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31" y="0"/>
            <a:ext cx="6981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7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1418646-9DC0-E93E-F4C1-09ED7AD84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992" y="1569140"/>
            <a:ext cx="10352015" cy="5192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CE81E3-94C2-7D5D-3272-4894A875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Soil moisture and nitrogen dynamics (1): random precipitation drives soil moisture dynamics, which in turn mediate carbon and nitrogen dynamics</a:t>
            </a:r>
          </a:p>
        </p:txBody>
      </p:sp>
    </p:spTree>
    <p:extLst>
      <p:ext uri="{BB962C8B-B14F-4D97-AF65-F5344CB8AC3E}">
        <p14:creationId xmlns:p14="http://schemas.microsoft.com/office/powerpoint/2010/main" val="204670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068553A-1675-56CF-805E-3A7949374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009" y="1543574"/>
            <a:ext cx="10391982" cy="521222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CE81E3-94C2-7D5D-3272-4894A875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Soil moisture and nitrogen dynamics (2): random precipitation drives soil moisture dynamics, which in turn mediate carbon and nitrogen dynamics</a:t>
            </a:r>
          </a:p>
        </p:txBody>
      </p:sp>
    </p:spTree>
    <p:extLst>
      <p:ext uri="{BB962C8B-B14F-4D97-AF65-F5344CB8AC3E}">
        <p14:creationId xmlns:p14="http://schemas.microsoft.com/office/powerpoint/2010/main" val="149535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6FB9AD-674A-3B29-503C-22960E396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66" y="1519936"/>
            <a:ext cx="10642868" cy="533806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CE81E3-94C2-7D5D-3272-4894A875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Nitrogen dynamics from 5 simulations. All beginning with same (high) initial nitrate concentration, but different precipitation realizations. If, for instance, 0.4 g N/m</a:t>
            </a:r>
            <a:r>
              <a:rPr lang="en-US" sz="2400" baseline="30000" dirty="0"/>
              <a:t>3</a:t>
            </a:r>
            <a:r>
              <a:rPr lang="en-US" sz="2400" dirty="0"/>
              <a:t> were a critical concentration threshold for crop growth, each precipitation realization would incur failure here.</a:t>
            </a:r>
          </a:p>
        </p:txBody>
      </p:sp>
    </p:spTree>
    <p:extLst>
      <p:ext uri="{BB962C8B-B14F-4D97-AF65-F5344CB8AC3E}">
        <p14:creationId xmlns:p14="http://schemas.microsoft.com/office/powerpoint/2010/main" val="194948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BAC488-7D36-BA41-1512-82EF98350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575" y="1417172"/>
            <a:ext cx="10826850" cy="543034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CE81E3-94C2-7D5D-3272-4894A875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Nitrogen dynamics from 5 simulations – with fertilization on days 80 and 160. Now some precipitation realizations cause failure (fall below  0.4 g N/m</a:t>
            </a:r>
            <a:r>
              <a:rPr lang="en-US" sz="2400" baseline="30000" dirty="0"/>
              <a:t>3</a:t>
            </a:r>
            <a:r>
              <a:rPr lang="en-US" sz="2400" dirty="0"/>
              <a:t>) but not all.</a:t>
            </a:r>
          </a:p>
        </p:txBody>
      </p:sp>
    </p:spTree>
    <p:extLst>
      <p:ext uri="{BB962C8B-B14F-4D97-AF65-F5344CB8AC3E}">
        <p14:creationId xmlns:p14="http://schemas.microsoft.com/office/powerpoint/2010/main" val="137161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Widescreen</PresentationFormat>
  <Paragraphs>76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Montserrat</vt:lpstr>
      <vt:lpstr>Montserrat Light</vt:lpstr>
      <vt:lpstr>Montserrat Thin</vt:lpstr>
      <vt:lpstr>Office Theme</vt:lpstr>
      <vt:lpstr>1_Office Theme</vt:lpstr>
      <vt:lpstr>Candidate model for nutrient reachability analysis</vt:lpstr>
      <vt:lpstr>Candidate model for nutrient reachability analysis</vt:lpstr>
      <vt:lpstr>Candidate model for nutrient reachability analysis</vt:lpstr>
      <vt:lpstr>Candidate model for nutrient reachability analysis</vt:lpstr>
      <vt:lpstr>Candidate model for nutrient reachability analysis</vt:lpstr>
      <vt:lpstr>PowerPoint Presentation</vt:lpstr>
      <vt:lpstr>Soil moisture and nitrogen dynamics (1): random precipitation drives soil moisture dynamics, which in turn mediate carbon and nitrogen dynamics</vt:lpstr>
      <vt:lpstr>Soil moisture and nitrogen dynamics (2): random precipitation drives soil moisture dynamics, which in turn mediate carbon and nitrogen dynamics</vt:lpstr>
      <vt:lpstr>Nitrogen dynamics from 5 simulations. All beginning with same (high) initial nitrate concentration, but different precipitation realizations. If, for instance, 0.4 g N/m3 were a critical concentration threshold for crop growth, each precipitation realization would incur failure here.</vt:lpstr>
      <vt:lpstr>Nitrogen dynamics from 5 simulations – with fertilization on days 80 and 160. Now some precipitation realizations cause failure (fall below  0.4 g N/m3) but not all.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moisture dynamics: random precipitation drives soil moisture dynamics, which in turn mediate carbon and nitrogen dynamics</dc:title>
  <dc:creator>Wallington, Kevin Daniel</dc:creator>
  <cp:lastModifiedBy>Wallington  Kevin Daniel</cp:lastModifiedBy>
  <cp:revision>5</cp:revision>
  <dcterms:created xsi:type="dcterms:W3CDTF">2023-03-15T17:19:46Z</dcterms:created>
  <dcterms:modified xsi:type="dcterms:W3CDTF">2025-02-12T10:26:04Z</dcterms:modified>
</cp:coreProperties>
</file>